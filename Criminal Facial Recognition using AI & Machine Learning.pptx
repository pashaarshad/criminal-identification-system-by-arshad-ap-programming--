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9"/>
  </p:notesMasterIdLst>
  <p:sldIdLst>
    <p:sldId id="256" r:id="rId2"/>
    <p:sldId id="272" r:id="rId3"/>
    <p:sldId id="273" r:id="rId4"/>
    <p:sldId id="257" r:id="rId5"/>
    <p:sldId id="271" r:id="rId6"/>
    <p:sldId id="258" r:id="rId7"/>
    <p:sldId id="259" r:id="rId8"/>
    <p:sldId id="274" r:id="rId9"/>
    <p:sldId id="260" r:id="rId10"/>
    <p:sldId id="261" r:id="rId11"/>
    <p:sldId id="262" r:id="rId12"/>
    <p:sldId id="277" r:id="rId13"/>
    <p:sldId id="282" r:id="rId14"/>
    <p:sldId id="281" r:id="rId15"/>
    <p:sldId id="280" r:id="rId16"/>
    <p:sldId id="276" r:id="rId17"/>
    <p:sldId id="279" r:id="rId18"/>
    <p:sldId id="278" r:id="rId19"/>
    <p:sldId id="263" r:id="rId20"/>
    <p:sldId id="264" r:id="rId21"/>
    <p:sldId id="265" r:id="rId22"/>
    <p:sldId id="266" r:id="rId23"/>
    <p:sldId id="267" r:id="rId24"/>
    <p:sldId id="270" r:id="rId25"/>
    <p:sldId id="268" r:id="rId26"/>
    <p:sldId id="275" r:id="rId27"/>
    <p:sldId id="26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>
        <p:scale>
          <a:sx n="66" d="100"/>
          <a:sy n="66" d="100"/>
        </p:scale>
        <p:origin x="1494" y="43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F8A241-B225-4DD6-A930-9A5AE28C7FAD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8997EEFA-6331-435E-BF0C-592487F8AF73}">
      <dgm:prSet phldrT="[Text]"/>
      <dgm:spPr/>
      <dgm:t>
        <a:bodyPr/>
        <a:lstStyle/>
        <a:p>
          <a:r>
            <a:rPr lang="en-IN" dirty="0"/>
            <a:t>Image Capture</a:t>
          </a:r>
        </a:p>
      </dgm:t>
    </dgm:pt>
    <dgm:pt modelId="{ACFE2CCD-9D49-44FB-A44B-5F6A574C5275}" type="parTrans" cxnId="{6BA5BE5C-8B62-485A-821E-F044B6AB554E}">
      <dgm:prSet/>
      <dgm:spPr/>
      <dgm:t>
        <a:bodyPr/>
        <a:lstStyle/>
        <a:p>
          <a:endParaRPr lang="en-IN"/>
        </a:p>
      </dgm:t>
    </dgm:pt>
    <dgm:pt modelId="{35BED866-DBBB-4639-8717-9AF80F7E5E1F}" type="sibTrans" cxnId="{6BA5BE5C-8B62-485A-821E-F044B6AB554E}">
      <dgm:prSet/>
      <dgm:spPr/>
      <dgm:t>
        <a:bodyPr/>
        <a:lstStyle/>
        <a:p>
          <a:endParaRPr lang="en-IN"/>
        </a:p>
      </dgm:t>
    </dgm:pt>
    <dgm:pt modelId="{8284332E-0F2B-40C0-B667-9EA6D941C71D}">
      <dgm:prSet phldrT="[Text]"/>
      <dgm:spPr/>
      <dgm:t>
        <a:bodyPr/>
        <a:lstStyle/>
        <a:p>
          <a:r>
            <a:rPr lang="en-IN" dirty="0"/>
            <a:t>Face Detection</a:t>
          </a:r>
        </a:p>
      </dgm:t>
    </dgm:pt>
    <dgm:pt modelId="{262C8B3C-9F83-41B1-888B-14765BD3A1D1}" type="parTrans" cxnId="{9E4196DF-4D50-422F-9C52-AB7907420DC0}">
      <dgm:prSet/>
      <dgm:spPr/>
      <dgm:t>
        <a:bodyPr/>
        <a:lstStyle/>
        <a:p>
          <a:endParaRPr lang="en-IN"/>
        </a:p>
      </dgm:t>
    </dgm:pt>
    <dgm:pt modelId="{037394E9-B315-4D72-A549-AA77103FC9A4}" type="sibTrans" cxnId="{9E4196DF-4D50-422F-9C52-AB7907420DC0}">
      <dgm:prSet/>
      <dgm:spPr/>
      <dgm:t>
        <a:bodyPr/>
        <a:lstStyle/>
        <a:p>
          <a:endParaRPr lang="en-IN"/>
        </a:p>
      </dgm:t>
    </dgm:pt>
    <dgm:pt modelId="{6193E268-2CB1-4797-82FC-DD4A3AF81B44}">
      <dgm:prSet phldrT="[Text]"/>
      <dgm:spPr/>
      <dgm:t>
        <a:bodyPr/>
        <a:lstStyle/>
        <a:p>
          <a:r>
            <a:rPr lang="en-IN" dirty="0"/>
            <a:t>Feature Extraction</a:t>
          </a:r>
        </a:p>
      </dgm:t>
    </dgm:pt>
    <dgm:pt modelId="{BCB532D4-9163-483D-964D-453A054F9E0B}" type="parTrans" cxnId="{C2DB90C5-98A9-4686-83EC-C70D4969D2A3}">
      <dgm:prSet/>
      <dgm:spPr/>
      <dgm:t>
        <a:bodyPr/>
        <a:lstStyle/>
        <a:p>
          <a:endParaRPr lang="en-IN"/>
        </a:p>
      </dgm:t>
    </dgm:pt>
    <dgm:pt modelId="{DC360F2B-80E6-444A-B019-E7F25884F417}" type="sibTrans" cxnId="{C2DB90C5-98A9-4686-83EC-C70D4969D2A3}">
      <dgm:prSet/>
      <dgm:spPr/>
      <dgm:t>
        <a:bodyPr/>
        <a:lstStyle/>
        <a:p>
          <a:endParaRPr lang="en-IN"/>
        </a:p>
      </dgm:t>
    </dgm:pt>
    <dgm:pt modelId="{9ADCF6CD-D14D-48F2-BA5F-08259330CC79}" type="pres">
      <dgm:prSet presAssocID="{2DF8A241-B225-4DD6-A930-9A5AE28C7FAD}" presName="rootnode" presStyleCnt="0">
        <dgm:presLayoutVars>
          <dgm:chMax/>
          <dgm:chPref/>
          <dgm:dir/>
          <dgm:animLvl val="lvl"/>
        </dgm:presLayoutVars>
      </dgm:prSet>
      <dgm:spPr/>
    </dgm:pt>
    <dgm:pt modelId="{E7299630-175D-46D5-9598-7986E8B0FF85}" type="pres">
      <dgm:prSet presAssocID="{8997EEFA-6331-435E-BF0C-592487F8AF73}" presName="composite" presStyleCnt="0"/>
      <dgm:spPr/>
    </dgm:pt>
    <dgm:pt modelId="{F2AA239B-8B6D-408E-B41A-B7131F54A825}" type="pres">
      <dgm:prSet presAssocID="{8997EEFA-6331-435E-BF0C-592487F8AF73}" presName="bentUpArrow1" presStyleLbl="alignImgPlace1" presStyleIdx="0" presStyleCnt="2"/>
      <dgm:spPr/>
    </dgm:pt>
    <dgm:pt modelId="{3C1A5720-491C-471D-9E16-2A9258AEE2C5}" type="pres">
      <dgm:prSet presAssocID="{8997EEFA-6331-435E-BF0C-592487F8AF73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894EDD37-914C-4678-A905-487FAEACE56B}" type="pres">
      <dgm:prSet presAssocID="{8997EEFA-6331-435E-BF0C-592487F8AF73}" presName="ChildText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EF7B5915-DA15-4908-9A15-101767279998}" type="pres">
      <dgm:prSet presAssocID="{35BED866-DBBB-4639-8717-9AF80F7E5E1F}" presName="sibTrans" presStyleCnt="0"/>
      <dgm:spPr/>
    </dgm:pt>
    <dgm:pt modelId="{96B8A8A5-838A-4A2F-B489-FC9FF3CC30B9}" type="pres">
      <dgm:prSet presAssocID="{8284332E-0F2B-40C0-B667-9EA6D941C71D}" presName="composite" presStyleCnt="0"/>
      <dgm:spPr/>
    </dgm:pt>
    <dgm:pt modelId="{441A9604-C476-405C-B191-51378629AF77}" type="pres">
      <dgm:prSet presAssocID="{8284332E-0F2B-40C0-B667-9EA6D941C71D}" presName="bentUpArrow1" presStyleLbl="alignImgPlace1" presStyleIdx="1" presStyleCnt="2"/>
      <dgm:spPr/>
    </dgm:pt>
    <dgm:pt modelId="{D9211CEC-C2EC-4004-9267-930CC691D1EE}" type="pres">
      <dgm:prSet presAssocID="{8284332E-0F2B-40C0-B667-9EA6D941C71D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CCA58464-02DE-435E-B639-674D0D02565C}" type="pres">
      <dgm:prSet presAssocID="{8284332E-0F2B-40C0-B667-9EA6D941C71D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B866F5B0-F3F9-48BC-8600-15B9B710022B}" type="pres">
      <dgm:prSet presAssocID="{037394E9-B315-4D72-A549-AA77103FC9A4}" presName="sibTrans" presStyleCnt="0"/>
      <dgm:spPr/>
    </dgm:pt>
    <dgm:pt modelId="{A7399B17-6E23-4D3E-9642-61A315571578}" type="pres">
      <dgm:prSet presAssocID="{6193E268-2CB1-4797-82FC-DD4A3AF81B44}" presName="composite" presStyleCnt="0"/>
      <dgm:spPr/>
    </dgm:pt>
    <dgm:pt modelId="{8D3722F0-15DA-48F1-8D39-2B787E02CF9E}" type="pres">
      <dgm:prSet presAssocID="{6193E268-2CB1-4797-82FC-DD4A3AF81B44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D5D2F613-7082-4E8A-BCDD-8AF7F002110F}" type="presOf" srcId="{6193E268-2CB1-4797-82FC-DD4A3AF81B44}" destId="{8D3722F0-15DA-48F1-8D39-2B787E02CF9E}" srcOrd="0" destOrd="0" presId="urn:microsoft.com/office/officeart/2005/8/layout/StepDownProcess"/>
    <dgm:cxn modelId="{28EE895B-C07D-49DA-A002-999D17B3841C}" type="presOf" srcId="{8284332E-0F2B-40C0-B667-9EA6D941C71D}" destId="{D9211CEC-C2EC-4004-9267-930CC691D1EE}" srcOrd="0" destOrd="0" presId="urn:microsoft.com/office/officeart/2005/8/layout/StepDownProcess"/>
    <dgm:cxn modelId="{6BA5BE5C-8B62-485A-821E-F044B6AB554E}" srcId="{2DF8A241-B225-4DD6-A930-9A5AE28C7FAD}" destId="{8997EEFA-6331-435E-BF0C-592487F8AF73}" srcOrd="0" destOrd="0" parTransId="{ACFE2CCD-9D49-44FB-A44B-5F6A574C5275}" sibTransId="{35BED866-DBBB-4639-8717-9AF80F7E5E1F}"/>
    <dgm:cxn modelId="{7EADC266-55AA-4022-94DE-B5F5919B88FA}" type="presOf" srcId="{8997EEFA-6331-435E-BF0C-592487F8AF73}" destId="{3C1A5720-491C-471D-9E16-2A9258AEE2C5}" srcOrd="0" destOrd="0" presId="urn:microsoft.com/office/officeart/2005/8/layout/StepDownProcess"/>
    <dgm:cxn modelId="{F30CD174-0620-4C9C-81E4-DD80FE2B966C}" type="presOf" srcId="{2DF8A241-B225-4DD6-A930-9A5AE28C7FAD}" destId="{9ADCF6CD-D14D-48F2-BA5F-08259330CC79}" srcOrd="0" destOrd="0" presId="urn:microsoft.com/office/officeart/2005/8/layout/StepDownProcess"/>
    <dgm:cxn modelId="{C2DB90C5-98A9-4686-83EC-C70D4969D2A3}" srcId="{2DF8A241-B225-4DD6-A930-9A5AE28C7FAD}" destId="{6193E268-2CB1-4797-82FC-DD4A3AF81B44}" srcOrd="2" destOrd="0" parTransId="{BCB532D4-9163-483D-964D-453A054F9E0B}" sibTransId="{DC360F2B-80E6-444A-B019-E7F25884F417}"/>
    <dgm:cxn modelId="{9E4196DF-4D50-422F-9C52-AB7907420DC0}" srcId="{2DF8A241-B225-4DD6-A930-9A5AE28C7FAD}" destId="{8284332E-0F2B-40C0-B667-9EA6D941C71D}" srcOrd="1" destOrd="0" parTransId="{262C8B3C-9F83-41B1-888B-14765BD3A1D1}" sibTransId="{037394E9-B315-4D72-A549-AA77103FC9A4}"/>
    <dgm:cxn modelId="{A270FF7F-511C-4966-B2BE-E00CFF91A591}" type="presParOf" srcId="{9ADCF6CD-D14D-48F2-BA5F-08259330CC79}" destId="{E7299630-175D-46D5-9598-7986E8B0FF85}" srcOrd="0" destOrd="0" presId="urn:microsoft.com/office/officeart/2005/8/layout/StepDownProcess"/>
    <dgm:cxn modelId="{F6E107FE-BB15-465A-97D5-636DA0CA8B94}" type="presParOf" srcId="{E7299630-175D-46D5-9598-7986E8B0FF85}" destId="{F2AA239B-8B6D-408E-B41A-B7131F54A825}" srcOrd="0" destOrd="0" presId="urn:microsoft.com/office/officeart/2005/8/layout/StepDownProcess"/>
    <dgm:cxn modelId="{4402D960-4E98-4F66-910E-3974160E5275}" type="presParOf" srcId="{E7299630-175D-46D5-9598-7986E8B0FF85}" destId="{3C1A5720-491C-471D-9E16-2A9258AEE2C5}" srcOrd="1" destOrd="0" presId="urn:microsoft.com/office/officeart/2005/8/layout/StepDownProcess"/>
    <dgm:cxn modelId="{419042EB-312B-4D3A-BFD6-DB87B10D5095}" type="presParOf" srcId="{E7299630-175D-46D5-9598-7986E8B0FF85}" destId="{894EDD37-914C-4678-A905-487FAEACE56B}" srcOrd="2" destOrd="0" presId="urn:microsoft.com/office/officeart/2005/8/layout/StepDownProcess"/>
    <dgm:cxn modelId="{84E64BF7-8069-4FBA-BE19-5DF2C42A843D}" type="presParOf" srcId="{9ADCF6CD-D14D-48F2-BA5F-08259330CC79}" destId="{EF7B5915-DA15-4908-9A15-101767279998}" srcOrd="1" destOrd="0" presId="urn:microsoft.com/office/officeart/2005/8/layout/StepDownProcess"/>
    <dgm:cxn modelId="{C384271E-BDDF-4B54-B582-E00B3AA27630}" type="presParOf" srcId="{9ADCF6CD-D14D-48F2-BA5F-08259330CC79}" destId="{96B8A8A5-838A-4A2F-B489-FC9FF3CC30B9}" srcOrd="2" destOrd="0" presId="urn:microsoft.com/office/officeart/2005/8/layout/StepDownProcess"/>
    <dgm:cxn modelId="{F349729C-B153-457C-A16B-88FDE9572C13}" type="presParOf" srcId="{96B8A8A5-838A-4A2F-B489-FC9FF3CC30B9}" destId="{441A9604-C476-405C-B191-51378629AF77}" srcOrd="0" destOrd="0" presId="urn:microsoft.com/office/officeart/2005/8/layout/StepDownProcess"/>
    <dgm:cxn modelId="{53FF2FD0-EDE4-468D-A8C8-420A8D648D06}" type="presParOf" srcId="{96B8A8A5-838A-4A2F-B489-FC9FF3CC30B9}" destId="{D9211CEC-C2EC-4004-9267-930CC691D1EE}" srcOrd="1" destOrd="0" presId="urn:microsoft.com/office/officeart/2005/8/layout/StepDownProcess"/>
    <dgm:cxn modelId="{4BBCC771-EA33-43E8-870C-C5F7D530818F}" type="presParOf" srcId="{96B8A8A5-838A-4A2F-B489-FC9FF3CC30B9}" destId="{CCA58464-02DE-435E-B639-674D0D02565C}" srcOrd="2" destOrd="0" presId="urn:microsoft.com/office/officeart/2005/8/layout/StepDownProcess"/>
    <dgm:cxn modelId="{DFB4B322-38D6-49EC-B34B-68E20C59B23B}" type="presParOf" srcId="{9ADCF6CD-D14D-48F2-BA5F-08259330CC79}" destId="{B866F5B0-F3F9-48BC-8600-15B9B710022B}" srcOrd="3" destOrd="0" presId="urn:microsoft.com/office/officeart/2005/8/layout/StepDownProcess"/>
    <dgm:cxn modelId="{33915732-0670-4E65-BE31-2D41D0F717E0}" type="presParOf" srcId="{9ADCF6CD-D14D-48F2-BA5F-08259330CC79}" destId="{A7399B17-6E23-4D3E-9642-61A315571578}" srcOrd="4" destOrd="0" presId="urn:microsoft.com/office/officeart/2005/8/layout/StepDownProcess"/>
    <dgm:cxn modelId="{6D15ACF7-2DC9-46F0-91C5-DE0746DB298D}" type="presParOf" srcId="{A7399B17-6E23-4D3E-9642-61A315571578}" destId="{8D3722F0-15DA-48F1-8D39-2B787E02CF9E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AA239B-8B6D-408E-B41A-B7131F54A825}">
      <dsp:nvSpPr>
        <dsp:cNvPr id="0" name=""/>
        <dsp:cNvSpPr/>
      </dsp:nvSpPr>
      <dsp:spPr>
        <a:xfrm rot="5400000">
          <a:off x="1152713" y="949681"/>
          <a:ext cx="839911" cy="9562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1A5720-491C-471D-9E16-2A9258AEE2C5}">
      <dsp:nvSpPr>
        <dsp:cNvPr id="0" name=""/>
        <dsp:cNvSpPr/>
      </dsp:nvSpPr>
      <dsp:spPr>
        <a:xfrm>
          <a:off x="930188" y="18622"/>
          <a:ext cx="1413916" cy="989695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Image Capture</a:t>
          </a:r>
        </a:p>
      </dsp:txBody>
      <dsp:txXfrm>
        <a:off x="978510" y="66944"/>
        <a:ext cx="1317272" cy="893051"/>
      </dsp:txXfrm>
    </dsp:sp>
    <dsp:sp modelId="{894EDD37-914C-4678-A905-487FAEACE56B}">
      <dsp:nvSpPr>
        <dsp:cNvPr id="0" name=""/>
        <dsp:cNvSpPr/>
      </dsp:nvSpPr>
      <dsp:spPr>
        <a:xfrm>
          <a:off x="2344104" y="113012"/>
          <a:ext cx="1028347" cy="799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1A9604-C476-405C-B191-51378629AF77}">
      <dsp:nvSpPr>
        <dsp:cNvPr id="0" name=""/>
        <dsp:cNvSpPr/>
      </dsp:nvSpPr>
      <dsp:spPr>
        <a:xfrm rot="5400000">
          <a:off x="2325000" y="2061435"/>
          <a:ext cx="839911" cy="956209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211CEC-C2EC-4004-9267-930CC691D1EE}">
      <dsp:nvSpPr>
        <dsp:cNvPr id="0" name=""/>
        <dsp:cNvSpPr/>
      </dsp:nvSpPr>
      <dsp:spPr>
        <a:xfrm>
          <a:off x="2102474" y="1130377"/>
          <a:ext cx="1413916" cy="989695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Face Detection</a:t>
          </a:r>
        </a:p>
      </dsp:txBody>
      <dsp:txXfrm>
        <a:off x="2150796" y="1178699"/>
        <a:ext cx="1317272" cy="893051"/>
      </dsp:txXfrm>
    </dsp:sp>
    <dsp:sp modelId="{CCA58464-02DE-435E-B639-674D0D02565C}">
      <dsp:nvSpPr>
        <dsp:cNvPr id="0" name=""/>
        <dsp:cNvSpPr/>
      </dsp:nvSpPr>
      <dsp:spPr>
        <a:xfrm>
          <a:off x="3516391" y="1224767"/>
          <a:ext cx="1028347" cy="799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3722F0-15DA-48F1-8D39-2B787E02CF9E}">
      <dsp:nvSpPr>
        <dsp:cNvPr id="0" name=""/>
        <dsp:cNvSpPr/>
      </dsp:nvSpPr>
      <dsp:spPr>
        <a:xfrm>
          <a:off x="3274761" y="2242131"/>
          <a:ext cx="1413916" cy="989695"/>
        </a:xfrm>
        <a:prstGeom prst="roundRect">
          <a:avLst>
            <a:gd name="adj" fmla="val 1667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/>
            <a:t>Feature Extraction</a:t>
          </a:r>
        </a:p>
      </dsp:txBody>
      <dsp:txXfrm>
        <a:off x="3323083" y="2290453"/>
        <a:ext cx="1317272" cy="893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82188-2562-4F44-9E43-267EB7BECC78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0420-AE8E-4787-B52E-567B245DF1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3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"Imagine a world where a single camera in an airport, railway station, or public street can instantly identify a wanted criminal and alert law enforcement—before a crime even happens. This is no longer science fiction. Today, I will show you how our AI-powered Criminal Facial Recognition System is making this possible."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C0420-AE8E-4787-B52E-567B245DF1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30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3C0420-AE8E-4787-B52E-567B245DF1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209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10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770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706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7743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070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383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861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722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8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933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365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3995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421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10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309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382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228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5EE-0513-418A-B7BF-BC4830A7BB9A}" type="datetimeFigureOut">
              <a:rPr lang="en-IN" smtClean="0"/>
              <a:t>04-04-2025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EFF2D-D5CA-4A9B-A584-289F39E95C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420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10" Type="http://schemas.openxmlformats.org/officeDocument/2006/relationships/image" Target="../media/image2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youtu.be/0lMsasNGoFA?si=YgLsLk0gU8VAVbx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731D-AA9E-84E8-245C-FB08FE4FD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3048000"/>
            <a:ext cx="9917354" cy="2344829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 Facial Recognition using AI ,Deep learning &amp; Machine Learning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logo of a police officer&#10;&#10;AI-generated content may be incorrect.">
            <a:extLst>
              <a:ext uri="{FF2B5EF4-FFF2-40B4-BE49-F238E27FC236}">
                <a16:creationId xmlns:a16="http://schemas.microsoft.com/office/drawing/2014/main" id="{E837C26E-DAE1-87C8-E32A-00615D5E2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188" y="-278454"/>
            <a:ext cx="3707454" cy="370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98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2F0338-8BC9-F0FE-5EE5-9CB97836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CF4650-FF66-64CD-909F-23FF37895B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3429" y="951457"/>
            <a:ext cx="9665142" cy="4955086"/>
          </a:xfrm>
        </p:spPr>
        <p:txBody>
          <a:bodyPr>
            <a:normAutofit fontScale="25000" lnSpcReduction="20000"/>
          </a:bodyPr>
          <a:lstStyle/>
          <a:p>
            <a:r>
              <a:rPr lang="en-IN" sz="11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: Pixel Patrol</a:t>
            </a:r>
          </a:p>
          <a:p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</a:t>
            </a:r>
            <a:endParaRPr lang="en-IN" sz="8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Deeksha Raj M N    [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Research, Wireframe &amp; Design</a:t>
            </a:r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                    7483737778</a:t>
            </a:r>
          </a:p>
          <a:p>
            <a:pPr algn="l"/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Rahitya                    [</a:t>
            </a: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Development</a:t>
            </a:r>
            <a:r>
              <a:rPr lang="en-IN" sz="8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                                     8792465455</a:t>
            </a:r>
          </a:p>
          <a:p>
            <a:pPr algn="l"/>
            <a:r>
              <a:rPr lang="en-IN" sz="8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Captain : </a:t>
            </a:r>
          </a:p>
          <a:p>
            <a:pPr algn="l"/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Arshad Pasha          </a:t>
            </a:r>
            <a:r>
              <a:rPr lang="en-IN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[Project Lead- Full Implementation plan]</a:t>
            </a:r>
            <a:r>
              <a:rPr lang="en-IN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7760554350</a:t>
            </a:r>
          </a:p>
          <a:p>
            <a:pPr algn="l"/>
            <a:endParaRPr lang="en-IN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56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EC52E867-4AE0-F920-CB69-A5265A34F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3B9F7A-020D-03A2-D780-5B5C34EFD2ED}"/>
              </a:ext>
            </a:extLst>
          </p:cNvPr>
          <p:cNvSpPr txBox="1"/>
          <p:nvPr/>
        </p:nvSpPr>
        <p:spPr>
          <a:xfrm>
            <a:off x="2245873" y="4995312"/>
            <a:ext cx="7700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: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Seshadripuram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Degree College, Mysuru</a:t>
            </a:r>
          </a:p>
        </p:txBody>
      </p:sp>
    </p:spTree>
    <p:extLst>
      <p:ext uri="{BB962C8B-B14F-4D97-AF65-F5344CB8AC3E}">
        <p14:creationId xmlns:p14="http://schemas.microsoft.com/office/powerpoint/2010/main" val="332368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6F583-6F53-E963-718F-CA9E9A568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490B10-73AF-829D-91D2-8DE0789C7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957" y="951457"/>
            <a:ext cx="10437829" cy="4955086"/>
          </a:xfrm>
        </p:spPr>
        <p:txBody>
          <a:bodyPr>
            <a:normAutofit fontScale="62500" lnSpcReduction="20000"/>
          </a:bodyPr>
          <a:lstStyle/>
          <a:p>
            <a:r>
              <a:rPr lang="en-IN" sz="112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:</a:t>
            </a:r>
            <a:r>
              <a:rPr lang="en-IN" sz="112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PixelPatral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Arshad Pasha          [Project Lead- Full Implementation plan]      7760554350</a:t>
            </a:r>
          </a:p>
          <a:p>
            <a:pPr algn="l"/>
            <a:endParaRPr lang="en-IN" sz="8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5600" u="sng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5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519FA31C-0D16-4AA3-353A-F073833CA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71E8F1-086D-EFD8-AD29-CAC0DEB4797B}"/>
              </a:ext>
            </a:extLst>
          </p:cNvPr>
          <p:cNvSpPr txBox="1"/>
          <p:nvPr/>
        </p:nvSpPr>
        <p:spPr>
          <a:xfrm>
            <a:off x="2245873" y="4995312"/>
            <a:ext cx="7700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: </a:t>
            </a:r>
            <a:r>
              <a:rPr lang="en-IN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Seshadripuram</a:t>
            </a: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Degree College, Mysuru</a:t>
            </a:r>
          </a:p>
        </p:txBody>
      </p:sp>
    </p:spTree>
    <p:extLst>
      <p:ext uri="{BB962C8B-B14F-4D97-AF65-F5344CB8AC3E}">
        <p14:creationId xmlns:p14="http://schemas.microsoft.com/office/powerpoint/2010/main" val="2264314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2B3894-2813-1A90-476E-CD8028AD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357" y="786064"/>
            <a:ext cx="10363201" cy="5325978"/>
          </a:xfrm>
          <a:prstGeom prst="rect">
            <a:avLst/>
          </a:prstGeom>
        </p:spPr>
      </p:pic>
      <p:pic>
        <p:nvPicPr>
          <p:cNvPr id="3" name="Picture 2" descr="A logo of a police officer&#10;&#10;AI-generated content may be incorrect.">
            <a:extLst>
              <a:ext uri="{FF2B5EF4-FFF2-40B4-BE49-F238E27FC236}">
                <a16:creationId xmlns:a16="http://schemas.microsoft.com/office/drawing/2014/main" id="{97EDE404-E9E1-897B-A56D-9A4A8F1C3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95DD83-7F7A-59CA-D57F-3039A0ECD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6" y="745958"/>
            <a:ext cx="10363201" cy="578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7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69974-6330-4041-B7FF-DEF420EB2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140294-2366-01DA-0E6C-23CD9909E0A0}"/>
              </a:ext>
            </a:extLst>
          </p:cNvPr>
          <p:cNvSpPr txBox="1"/>
          <p:nvPr/>
        </p:nvSpPr>
        <p:spPr>
          <a:xfrm>
            <a:off x="3975370" y="379378"/>
            <a:ext cx="4241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1F82A-A7D6-D2B1-FBFA-EB543A8224DC}"/>
              </a:ext>
            </a:extLst>
          </p:cNvPr>
          <p:cNvSpPr txBox="1"/>
          <p:nvPr/>
        </p:nvSpPr>
        <p:spPr>
          <a:xfrm>
            <a:off x="547991" y="943583"/>
            <a:ext cx="10775005" cy="585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Criminal Facial Recognition 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law enforcement.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AI, Deep Learning, and Machine Learning for accurate facial identification.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Captures and analyzes facial features from surveillance footage.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Matches detected faces against a criminal database.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Triggers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SMS and sound alerts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a match is found.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Enhances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crime detection efficiency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investigation time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Provides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automated suspect identification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law enforcement.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Improves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quick and reliable criminal recognition.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A logo of a police officer&#10;&#10;AI-generated content may be incorrect.">
            <a:extLst>
              <a:ext uri="{FF2B5EF4-FFF2-40B4-BE49-F238E27FC236}">
                <a16:creationId xmlns:a16="http://schemas.microsoft.com/office/drawing/2014/main" id="{5552A92A-4CDC-3557-4F49-2D1D2966C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92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A86A8-4D1F-6879-E328-BCAD1878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16594-B590-ADED-4B80-6226893FC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Facial Recognition?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is a biometric technology that identifies or verifies individuals based on their facial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patterns based on a person’s facial textures and shapes.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System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“To develop an intelligent system capable of recognizing criminals using AI &amp; ML algorithms.”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68DD6927-82E7-87D0-1E7E-1C3E00B351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287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9C563-9A6E-9AE4-6D54-EBFC4841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9489F-16FD-AAFE-88AD-A67544DC2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crime rates require faster and more accurate identification methods.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identification is time consuming, slow, error-prone, and inefficient in fast paced environments.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an AI – ML powered system for real time , accurate criminal identification to enhance public safety and assist law enforcement.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CA09E073-E38D-1178-DC0F-7605EF997B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39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7867-A0F8-F231-E440-D741102CE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537C66E-0DD6-F162-4551-281610B665B6}"/>
              </a:ext>
            </a:extLst>
          </p:cNvPr>
          <p:cNvSpPr txBox="1"/>
          <p:nvPr/>
        </p:nvSpPr>
        <p:spPr>
          <a:xfrm>
            <a:off x="2766349" y="659757"/>
            <a:ext cx="45604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Case Study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037BD5-59ED-374C-B8F7-EC7FA7B8B623}"/>
              </a:ext>
            </a:extLst>
          </p:cNvPr>
          <p:cNvSpPr txBox="1"/>
          <p:nvPr/>
        </p:nvSpPr>
        <p:spPr>
          <a:xfrm>
            <a:off x="164940" y="129110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</a:t>
            </a:r>
            <a:r>
              <a:rPr lang="en-US" dirty="0"/>
              <a:t>1️⃣</a:t>
            </a:r>
            <a:r>
              <a:rPr lang="en-US" b="1" dirty="0"/>
              <a:t> – Mumbai Terror Attacks (2008)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464D54-DBD6-8932-82ED-5943702C260C}"/>
              </a:ext>
            </a:extLst>
          </p:cNvPr>
          <p:cNvSpPr txBox="1"/>
          <p:nvPr/>
        </p:nvSpPr>
        <p:spPr>
          <a:xfrm>
            <a:off x="2071869" y="1660438"/>
            <a:ext cx="95259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terrorists walked freely through CCTV-covered areas, but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could identify them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had been in place, law enforcement would have been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alerted instantly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potentially preventing the attack.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0CC908-A988-F56A-6968-28D18D5998F4}"/>
              </a:ext>
            </a:extLst>
          </p:cNvPr>
          <p:cNvSpPr txBox="1"/>
          <p:nvPr/>
        </p:nvSpPr>
        <p:spPr>
          <a:xfrm>
            <a:off x="164940" y="3258571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Case </a:t>
            </a:r>
            <a:r>
              <a:rPr lang="en-US" sz="1800" kern="1200" dirty="0">
                <a:solidFill>
                  <a:srgbClr val="FFFFFF"/>
                </a:solidFill>
                <a:effectLst/>
                <a:latin typeface="Rockwell" panose="02060603020205020403" pitchFamily="18" charset="0"/>
                <a:ea typeface="+mn-ea"/>
                <a:cs typeface="+mn-cs"/>
              </a:rPr>
              <a:t>2️⃣</a:t>
            </a:r>
            <a:r>
              <a:rPr lang="en-US" b="1" dirty="0"/>
              <a:t> – Missing Persons &amp; Human Trafficking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5258B4-7583-F00B-3BD6-DC63A2701248}"/>
              </a:ext>
            </a:extLst>
          </p:cNvPr>
          <p:cNvSpPr txBox="1"/>
          <p:nvPr/>
        </p:nvSpPr>
        <p:spPr>
          <a:xfrm>
            <a:off x="1942618" y="3784096"/>
            <a:ext cx="95259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year,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millions go missing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worldwide, and many are trafficked.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system can scan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crowds, public places, and transit hubs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instantly identifying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persons from databases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05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29A56-BE5C-E43C-DF4D-68908B08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and Solution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FC295-DC09-2000-C12C-69566AC35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detect and recognize faces of criminals from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images or videos.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AI/ML for high accuracy recognition.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assist law enforcement in reducing crime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criminal records platform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integration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 time SMS notifications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more accurate investigations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68A3A00C-9D5A-0525-9924-1A58639066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52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0182-E6A0-13FB-046F-ABA74118C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7DAC4-AA17-4466-F249-CE0ACB965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 – Time Facial Detection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Accuracy Recognition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Criminal Database Matching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Automated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Scalability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Emotion &amp; Behavior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Logging &amp; Reporting</a:t>
            </a: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60CB86F1-23A9-26BF-CA4B-A4BDB7E69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112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E71842D-9162-84DA-35A4-CE10BA5798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4794160"/>
              </p:ext>
            </p:extLst>
          </p:nvPr>
        </p:nvGraphicFramePr>
        <p:xfrm>
          <a:off x="2032000" y="719667"/>
          <a:ext cx="5618866" cy="3250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Bent-Up 4">
            <a:extLst>
              <a:ext uri="{FF2B5EF4-FFF2-40B4-BE49-F238E27FC236}">
                <a16:creationId xmlns:a16="http://schemas.microsoft.com/office/drawing/2014/main" id="{234A2F2F-F80E-A4D5-18B1-60A49849CF5B}"/>
              </a:ext>
            </a:extLst>
          </p:cNvPr>
          <p:cNvSpPr/>
          <p:nvPr/>
        </p:nvSpPr>
        <p:spPr>
          <a:xfrm rot="5400000">
            <a:off x="5545387" y="3877035"/>
            <a:ext cx="810227" cy="985479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dk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6F7A0E7-994F-7E25-7D40-D7CA514376DF}"/>
              </a:ext>
            </a:extLst>
          </p:cNvPr>
          <p:cNvGrpSpPr/>
          <p:nvPr/>
        </p:nvGrpSpPr>
        <p:grpSpPr>
          <a:xfrm>
            <a:off x="6493410" y="4060191"/>
            <a:ext cx="1413916" cy="989695"/>
            <a:chOff x="2760587" y="2242131"/>
            <a:chExt cx="1413916" cy="989695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9E1CA5E-91EA-39D5-28FB-D5BDCD2947EF}"/>
                </a:ext>
              </a:extLst>
            </p:cNvPr>
            <p:cNvSpPr/>
            <p:nvPr/>
          </p:nvSpPr>
          <p:spPr>
            <a:xfrm>
              <a:off x="2760587" y="2242131"/>
              <a:ext cx="1413916" cy="989695"/>
            </a:xfrm>
            <a:prstGeom prst="roundRect">
              <a:avLst>
                <a:gd name="adj" fmla="val 1667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8" name="Rectangle: Rounded Corners 4">
              <a:extLst>
                <a:ext uri="{FF2B5EF4-FFF2-40B4-BE49-F238E27FC236}">
                  <a16:creationId xmlns:a16="http://schemas.microsoft.com/office/drawing/2014/main" id="{203A6D04-96E5-E6EE-8B13-FB5BA0658569}"/>
                </a:ext>
              </a:extLst>
            </p:cNvPr>
            <p:cNvSpPr txBox="1"/>
            <p:nvPr/>
          </p:nvSpPr>
          <p:spPr>
            <a:xfrm>
              <a:off x="2856820" y="2258169"/>
              <a:ext cx="1317272" cy="893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9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Face Matching</a:t>
              </a:r>
            </a:p>
          </p:txBody>
        </p:sp>
      </p:grp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C8FF35E6-337C-8583-63EA-D4DD0620AEC3}"/>
              </a:ext>
            </a:extLst>
          </p:cNvPr>
          <p:cNvSpPr/>
          <p:nvPr/>
        </p:nvSpPr>
        <p:spPr>
          <a:xfrm rot="5400000">
            <a:off x="6744879" y="5007775"/>
            <a:ext cx="839911" cy="956209"/>
          </a:xfrm>
          <a:prstGeom prst="bentUpArrow">
            <a:avLst>
              <a:gd name="adj1" fmla="val 32840"/>
              <a:gd name="adj2" fmla="val 25000"/>
              <a:gd name="adj3" fmla="val 35780"/>
            </a:avLst>
          </a:prstGeom>
        </p:spPr>
        <p:style>
          <a:lnRef idx="2">
            <a:schemeClr val="dk1">
              <a:shade val="80000"/>
              <a:hueOff val="0"/>
              <a:satOff val="0"/>
              <a:lumOff val="0"/>
              <a:alphaOff val="0"/>
            </a:schemeClr>
          </a:lnRef>
          <a:fillRef idx="1">
            <a:schemeClr val="dk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dk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330D95-99FA-9B2A-EC5E-1A325355CA5E}"/>
              </a:ext>
            </a:extLst>
          </p:cNvPr>
          <p:cNvGrpSpPr/>
          <p:nvPr/>
        </p:nvGrpSpPr>
        <p:grpSpPr>
          <a:xfrm>
            <a:off x="7650866" y="5293290"/>
            <a:ext cx="1413916" cy="989695"/>
            <a:chOff x="2760587" y="2242131"/>
            <a:chExt cx="1413916" cy="989695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C5AD241-6539-F4FF-F325-8F8339FFCFDD}"/>
                </a:ext>
              </a:extLst>
            </p:cNvPr>
            <p:cNvSpPr/>
            <p:nvPr/>
          </p:nvSpPr>
          <p:spPr>
            <a:xfrm>
              <a:off x="2760587" y="2242131"/>
              <a:ext cx="1413916" cy="989695"/>
            </a:xfrm>
            <a:prstGeom prst="roundRect">
              <a:avLst>
                <a:gd name="adj" fmla="val 16670"/>
              </a:avLst>
            </a:prstGeom>
          </p:spPr>
          <p:style>
            <a:lnRef idx="2">
              <a:schemeClr val="dk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DEE6E3B7-6BA7-3D20-21AD-4E8085C825B2}"/>
                </a:ext>
              </a:extLst>
            </p:cNvPr>
            <p:cNvSpPr txBox="1"/>
            <p:nvPr/>
          </p:nvSpPr>
          <p:spPr>
            <a:xfrm>
              <a:off x="2808909" y="2290453"/>
              <a:ext cx="1317272" cy="89305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marL="0" lvl="0" indent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900" kern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Alert / Output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3439DED-5942-6926-B246-5F4E39B5DAA6}"/>
              </a:ext>
            </a:extLst>
          </p:cNvPr>
          <p:cNvSpPr txBox="1"/>
          <p:nvPr/>
        </p:nvSpPr>
        <p:spPr>
          <a:xfrm>
            <a:off x="6574421" y="575015"/>
            <a:ext cx="5490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surveillance camera captures an image, the system detects faces and extracts key features. These features are then matched against a centralized criminal database. If a criminal match is found, the system triggers real-time alerts via SMS and sound notifications, enabling law enforcement to respond immediately.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6FB044EF-A31D-D499-C1E5-B1B54E6CD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591" y="4088801"/>
            <a:ext cx="334508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captures images, detects faces, and extracts key features for matching against a criminal database.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a match is found, it sends real-time SMS and audio alerts to law enforcement.</a:t>
            </a:r>
          </a:p>
        </p:txBody>
      </p:sp>
      <p:pic>
        <p:nvPicPr>
          <p:cNvPr id="2" name="Picture 1" descr="A logo of a police officer&#10;&#10;AI-generated content may be incorrect.">
            <a:extLst>
              <a:ext uri="{FF2B5EF4-FFF2-40B4-BE49-F238E27FC236}">
                <a16:creationId xmlns:a16="http://schemas.microsoft.com/office/drawing/2014/main" id="{4CE5B380-92D2-DDFD-B600-B4E51B7018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4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3206-71FE-EB24-448F-773D70F5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37DC94-7603-87BA-F53A-E8B406032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778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0AE7E-47B8-68D6-862B-182EEBE5D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431C41-DBCF-5A53-F956-92A76FFC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784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4F27D2B-A747-2CDE-FC41-9EED7D9CF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451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FBC50C-1E11-8186-0758-49A95B57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33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F5E020-33F6-340E-D388-8B36D3A6D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7066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EBB0D6-24C3-40F6-7792-E3DD2FE0F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966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8692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45065A-9D66-2D1C-D79A-3723F523B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13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0624-605E-911C-61FE-E4E53385A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Step-by-Step Process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3833E-9D77-F3F6-3749-8464F4CF4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/ Video Input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Detection(Haar cascade, CNN, etc.)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Extraction(Landmarks, embeddings)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Matching(using ML classifiers like SVM, KNN or Deep Learning like CNNs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Identified Person/ Criminal Database Match 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BBCF3405-4C08-5D05-DC63-5F613ED1D9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840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11A2-059A-4701-026F-938E3C1D8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/ Tech Stack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(Tools Behind the Solution)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E4903-F74C-E627-5B63-6F9042F32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Python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Integrates key libraries &amp; APIs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GUI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Python logic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</a:t>
            </a: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SQLite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SMS API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OpenCV and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Playsound</a:t>
            </a: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DB7FA-37F4-A083-D147-C20667934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4996" y="2538695"/>
            <a:ext cx="1642749" cy="16357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DA2C74-02A5-866F-D184-790E70CA9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878" y="5575184"/>
            <a:ext cx="2305127" cy="10909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0602FB0-B33A-776A-AE56-5E2AE1D8D4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3213" t="12042" r="13779" b="10524"/>
          <a:stretch/>
        </p:blipFill>
        <p:spPr>
          <a:xfrm>
            <a:off x="8753063" y="3860446"/>
            <a:ext cx="1542237" cy="16357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62DA2F-74F7-1A94-E260-691CC992E9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862" b="76379" l="35280" r="64234">
                        <a14:foregroundMark x1="53771" y1="38276" x2="54501" y2="28966"/>
                        <a14:foregroundMark x1="54501" y1="28966" x2="47080" y2="28448"/>
                        <a14:foregroundMark x1="47080" y1="28448" x2="46107" y2="37069"/>
                        <a14:foregroundMark x1="46107" y1="37069" x2="47445" y2="39138"/>
                        <a14:foregroundMark x1="40225" y1="51728" x2="38564" y2="54138"/>
                        <a14:foregroundMark x1="43674" y1="46724" x2="41255" y2="50234"/>
                        <a14:foregroundMark x1="42667" y1="56422" x2="45377" y2="57931"/>
                        <a14:foregroundMark x1="38564" y1="54138" x2="40883" y2="55429"/>
                        <a14:foregroundMark x1="45377" y1="57931" x2="47080" y2="56897"/>
                        <a14:foregroundMark x1="47080" y1="55172" x2="42822" y2="62069"/>
                        <a14:foregroundMark x1="39208" y1="57529" x2="37470" y2="55345"/>
                        <a14:foregroundMark x1="42822" y1="62069" x2="40496" y2="59146"/>
                        <a14:foregroundMark x1="39689" y1="48621" x2="40998" y2="44655"/>
                        <a14:foregroundMark x1="37470" y1="55345" x2="39060" y2="50527"/>
                        <a14:foregroundMark x1="40998" y1="44655" x2="42944" y2="44655"/>
                        <a14:foregroundMark x1="38559" y1="48227" x2="37835" y2="48276"/>
                        <a14:foregroundMark x1="40389" y1="48103" x2="39260" y2="48179"/>
                        <a14:foregroundMark x1="57869" y1="57171" x2="57178" y2="59483"/>
                        <a14:foregroundMark x1="60219" y1="49310" x2="59385" y2="52098"/>
                        <a14:foregroundMark x1="57178" y1="59483" x2="53406" y2="51552"/>
                        <a14:backgroundMark x1="62652" y1="68103" x2="41727" y2="71034"/>
                        <a14:backgroundMark x1="35888" y1="68793" x2="44039" y2="72586"/>
                        <a14:backgroundMark x1="43066" y1="73966" x2="40146" y2="74483"/>
                        <a14:backgroundMark x1="58881" y1="53793" x2="58881" y2="53793"/>
                        <a14:backgroundMark x1="59124" y1="54483" x2="59489" y2="53448"/>
                        <a14:backgroundMark x1="59246" y1="54483" x2="59611" y2="53966"/>
                        <a14:backgroundMark x1="59124" y1="52414" x2="59489" y2="53966"/>
                        <a14:backgroundMark x1="59611" y1="52241" x2="58273" y2="56207"/>
                        <a14:backgroundMark x1="58516" y1="56379" x2="57421" y2="56034"/>
                        <a14:backgroundMark x1="59854" y1="54310" x2="59489" y2="51207"/>
                        <a14:backgroundMark x1="41363" y1="54828" x2="42701" y2="56379"/>
                        <a14:backgroundMark x1="41363" y1="50345" x2="40389" y2="51897"/>
                      </a14:backgroundRemoval>
                    </a14:imgEffect>
                  </a14:imgLayer>
                </a14:imgProps>
              </a:ext>
            </a:extLst>
          </a:blip>
          <a:srcRect l="31717" t="20196" r="32064" b="34758"/>
          <a:stretch/>
        </p:blipFill>
        <p:spPr>
          <a:xfrm>
            <a:off x="7823551" y="1619273"/>
            <a:ext cx="2071545" cy="1817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4ECD67-CC6A-F20F-20A0-D58E6E9BC6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7907" l="10000" r="90000">
                        <a14:foregroundMark x1="52442" y1="90349" x2="53256" y2="93488"/>
                        <a14:foregroundMark x1="41395" y1="97558" x2="46977" y2="97907"/>
                      </a14:backgroundRemoval>
                    </a14:imgEffect>
                  </a14:imgLayer>
                </a14:imgProps>
              </a:ext>
            </a:extLst>
          </a:blip>
          <a:srcRect l="9146" t="17000" r="13638"/>
          <a:stretch/>
        </p:blipFill>
        <p:spPr>
          <a:xfrm>
            <a:off x="6112193" y="3258259"/>
            <a:ext cx="1668613" cy="17935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8017DD8-EF43-CD10-8F07-9E4048DF3A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0675" y="5656297"/>
            <a:ext cx="3380263" cy="9286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52D69D0F-E711-E6F2-01FD-5273677A95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6814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93475-D354-C62F-89DE-680CFCEE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0944C-DDD0-B7DF-2D88-155754B63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accuracy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database management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time SMS integration</a:t>
            </a:r>
          </a:p>
          <a:p>
            <a:pPr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rmance optimization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5ABEC653-4A0A-6D30-8E2D-FC0379E8D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75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4A8CF-50B0-D64B-7706-22289075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Impact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6F214-A5BB-80F5-9E84-39CF70A758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Aspects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5C44BD-13D1-EA29-11DA-9BD6F8E8875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– time facial recognition &amp; SMS integration.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Immediate alerts for faster response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combination of technologies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 Algorithms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&amp; Ethical safeguards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32FCFA-0D4D-9E46-FDB2-54E479859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1110EA-10C9-367C-16EB-EF201EC74F2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Public Safety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Workload for Officers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trust in the Justice System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Case Resolutions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– Effective Law Enforcement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Deterrence of Criminals Activities.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logo of a police officer&#10;&#10;AI-generated content may be incorrect.">
            <a:extLst>
              <a:ext uri="{FF2B5EF4-FFF2-40B4-BE49-F238E27FC236}">
                <a16:creationId xmlns:a16="http://schemas.microsoft.com/office/drawing/2014/main" id="{DDD524C5-8629-29F1-4FC9-3CB55A518A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13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3476881-278A-D4F9-6A80-A64CD5796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 &amp; Benefits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EDAE58-B4D0-32E2-A2F4-BA15E634D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444" y="1843145"/>
            <a:ext cx="10353762" cy="3695136"/>
          </a:xfrm>
        </p:spPr>
        <p:txBody>
          <a:bodyPr numCol="2">
            <a:normAutofit/>
          </a:bodyPr>
          <a:lstStyle/>
          <a:p>
            <a:pPr algn="ctr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</a:p>
          <a:p>
            <a:pPr marL="0" indent="0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defTabSz="914400" eaLnBrk="0" fontAlgn="base" hangingPunct="0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 Law Enforcement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Government agencies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Security firms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Benefits</a:t>
            </a:r>
          </a:p>
          <a:p>
            <a:pPr marL="0" indent="0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 defTabSz="91440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 Faster suspect identification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Improved accuracy</a:t>
            </a:r>
          </a:p>
          <a:p>
            <a:pPr marL="0" indent="0" algn="ctr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 Streamlined operations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A logo of a police officer&#10;&#10;AI-generated content may be incorrect.">
            <a:extLst>
              <a:ext uri="{FF2B5EF4-FFF2-40B4-BE49-F238E27FC236}">
                <a16:creationId xmlns:a16="http://schemas.microsoft.com/office/drawing/2014/main" id="{4B5B8C56-01C8-ABF9-FE46-273A963ADE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847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573CC-56F9-3E61-8027-E9A1FB31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78F86BC-2041-4CBC-BA1A-3BB1FFF1F6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5874876"/>
              </p:ext>
            </p:extLst>
          </p:nvPr>
        </p:nvGraphicFramePr>
        <p:xfrm>
          <a:off x="924445" y="1840375"/>
          <a:ext cx="10343111" cy="4347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2383">
                  <a:extLst>
                    <a:ext uri="{9D8B030D-6E8A-4147-A177-3AD203B41FA5}">
                      <a16:colId xmlns:a16="http://schemas.microsoft.com/office/drawing/2014/main" val="1841681609"/>
                    </a:ext>
                  </a:extLst>
                </a:gridCol>
                <a:gridCol w="2783576">
                  <a:extLst>
                    <a:ext uri="{9D8B030D-6E8A-4147-A177-3AD203B41FA5}">
                      <a16:colId xmlns:a16="http://schemas.microsoft.com/office/drawing/2014/main" val="1119855613"/>
                    </a:ext>
                  </a:extLst>
                </a:gridCol>
                <a:gridCol w="2783576">
                  <a:extLst>
                    <a:ext uri="{9D8B030D-6E8A-4147-A177-3AD203B41FA5}">
                      <a16:colId xmlns:a16="http://schemas.microsoft.com/office/drawing/2014/main" val="1598134586"/>
                    </a:ext>
                  </a:extLst>
                </a:gridCol>
                <a:gridCol w="2783576">
                  <a:extLst>
                    <a:ext uri="{9D8B030D-6E8A-4147-A177-3AD203B41FA5}">
                      <a16:colId xmlns:a16="http://schemas.microsoft.com/office/drawing/2014/main" val="2265110840"/>
                    </a:ext>
                  </a:extLst>
                </a:gridCol>
              </a:tblGrid>
              <a:tr h="699062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Timeframe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Deliverables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007340"/>
                  </a:ext>
                </a:extLst>
              </a:tr>
              <a:tr h="934946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Research, Wireframe &amp; Design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Wireframes, Design Documents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Arshad Pasha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660655"/>
                  </a:ext>
                </a:extLst>
              </a:tr>
              <a:tr h="79151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Development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Days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Code, Initial Version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Arshad Pasha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23541"/>
                  </a:ext>
                </a:extLst>
              </a:tr>
              <a:tr h="79151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Iteration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Day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Bug Reports, Improvements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Arshad Pasha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8888360"/>
                  </a:ext>
                </a:extLst>
              </a:tr>
              <a:tr h="1130737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Polish &amp; Demo Prep</a:t>
                      </a: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Days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Refined Code, Demo Presentation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Arshad Pasha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308375"/>
                  </a:ext>
                </a:extLst>
              </a:tr>
            </a:tbl>
          </a:graphicData>
        </a:graphic>
      </p:graphicFrame>
      <p:pic>
        <p:nvPicPr>
          <p:cNvPr id="3" name="Picture 2" descr="A logo of a police officer&#10;&#10;AI-generated content may be incorrect.">
            <a:extLst>
              <a:ext uri="{FF2B5EF4-FFF2-40B4-BE49-F238E27FC236}">
                <a16:creationId xmlns:a16="http://schemas.microsoft.com/office/drawing/2014/main" id="{76766318-78DA-C901-85C9-66A1247697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75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57572-0965-CB68-2E44-D16228628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412E5-FBFA-D0A2-A413-82D3CCD29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079051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city surveillance with Live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based behaviour 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 detection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– modal biometric systems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E.G:- Voice + Face + Infrared Sensors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6D166674-68BC-25FC-D536-CB0C79A37E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7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standing in front of a building">
            <a:extLst>
              <a:ext uri="{FF2B5EF4-FFF2-40B4-BE49-F238E27FC236}">
                <a16:creationId xmlns:a16="http://schemas.microsoft.com/office/drawing/2014/main" id="{D34225DF-C7CE-C9BF-DEAC-FEAAB0EA7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2112" y="-352875"/>
            <a:ext cx="16507479" cy="9264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731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DB451-DC86-D4D4-AC26-09A8A2FAE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or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D2AAF-1E53-9867-35CC-F9BED7803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https://youtu.be/0lMsasNGoFA?si=YgLsLk0gU8VAVbxO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above link demonstrates the design and operation of our Criminal Facial Detection System."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of a police officer&#10;&#10;AI-generated content may be incorrect.">
            <a:extLst>
              <a:ext uri="{FF2B5EF4-FFF2-40B4-BE49-F238E27FC236}">
                <a16:creationId xmlns:a16="http://schemas.microsoft.com/office/drawing/2014/main" id="{798BB9AC-CB85-5D46-571E-C2F8D0331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774" y="0"/>
            <a:ext cx="1099226" cy="1099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956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401</TotalTime>
  <Words>938</Words>
  <Application>Microsoft Office PowerPoint</Application>
  <PresentationFormat>Widescreen</PresentationFormat>
  <Paragraphs>154</Paragraphs>
  <Slides>27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Bookman Old Style</vt:lpstr>
      <vt:lpstr>Rockwell</vt:lpstr>
      <vt:lpstr>Times New Roman</vt:lpstr>
      <vt:lpstr>Damask</vt:lpstr>
      <vt:lpstr>Criminal Facial Recognition using AI ,Deep learning &amp; Machine Learning</vt:lpstr>
      <vt:lpstr>PowerPoint Presentation</vt:lpstr>
      <vt:lpstr>PowerPoint Presentation</vt:lpstr>
      <vt:lpstr>PowerPoint Presentation</vt:lpstr>
      <vt:lpstr>PowerPoint Presentation</vt:lpstr>
      <vt:lpstr>Introduction</vt:lpstr>
      <vt:lpstr>Problem Statement</vt:lpstr>
      <vt:lpstr>PowerPoint Presentation</vt:lpstr>
      <vt:lpstr>Objectives and Solution Overview</vt:lpstr>
      <vt:lpstr>Key Features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It Works – Step-by-Step Process</vt:lpstr>
      <vt:lpstr>Technology Stack / Tech Stack (Tools Behind the Solution)</vt:lpstr>
      <vt:lpstr>Technical Challenges</vt:lpstr>
      <vt:lpstr>Innovation &amp; Impact</vt:lpstr>
      <vt:lpstr>Target Users &amp; Benefits</vt:lpstr>
      <vt:lpstr>Implementation plan</vt:lpstr>
      <vt:lpstr>Future Scope</vt:lpstr>
      <vt:lpstr>PowerPoint Presentation</vt:lpstr>
      <vt:lpstr>Demo or Prototype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 Prasad M N</dc:creator>
  <cp:lastModifiedBy>Arshad Pasha</cp:lastModifiedBy>
  <cp:revision>38</cp:revision>
  <dcterms:created xsi:type="dcterms:W3CDTF">2025-03-23T16:06:38Z</dcterms:created>
  <dcterms:modified xsi:type="dcterms:W3CDTF">2025-04-04T12:41:53Z</dcterms:modified>
</cp:coreProperties>
</file>